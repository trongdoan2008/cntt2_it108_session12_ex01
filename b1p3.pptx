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0e7dc764-0a15-12cc-1e14-5b280d0bc4ef}">
          <p14:sldIdLst>
            <p14:sldId id="256"/>
          </p14:sldIdLst>
        </p14:section>
        <p14:section name="Kết quả" id="{67cc801d-c1aa-4285-0bca-dbff4e9f6c6a}">
          <p14:sldIdLst>
            <p14:sldId id="257"/>
            <p14:sldId id="258"/>
          </p14:sldIdLst>
        </p14:section>
        <p14:section name="Chi phí" id="{16883689-f6ef-6b82-468d-5f032c83b1c9}">
          <p14:sldIdLst>
            <p14:sldId id="259"/>
            <p14:sldId id="260"/>
          </p14:sldIdLst>
        </p14:section>
        <p14:section name="Hành động" id="{452c3063-810b-dc50-0020-db5060de2495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thuần (tỷ VND)</c:v>
                </c:pt>
              </c:strCache>
            </c:strRef>
          </c:tx>
          <c:spPr>
            <a:solidFill>
              <a:srgbClr val="9DB4E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4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4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4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4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5BD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T01</c:v>
                  </c:pt>
                  <c:pt idx="1">
                    <c:v>T02</c:v>
                  </c:pt>
                  <c:pt idx="2">
                    <c:v>T03</c:v>
                  </c:pt>
                  <c:pt idx="3">
                    <c:v>T04</c:v>
                  </c:pt>
                  <c:pt idx="4">
                    <c:v>T05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9.1</c:v>
                </c:pt>
                <c:pt idx="1">
                  <c:v>9.85</c:v>
                </c:pt>
                <c:pt idx="2">
                  <c:v>10.52</c:v>
                </c:pt>
                <c:pt idx="3">
                  <c:v>11.24</c:v>
                </c:pt>
                <c:pt idx="4">
                  <c:v>12.45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30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 chi phí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BD8"/>
              </a:solidFill>
              <a:effectLst/>
            </c:spPr>
          </c:dPt>
          <c:dPt>
            <c:idx val="1"/>
            <c:bubble3D val="0"/>
            <c:spPr>
              <a:solidFill>
                <a:srgbClr val="1FA67A"/>
              </a:solidFill>
              <a:effectLst/>
            </c:spPr>
          </c:dPt>
          <c:dPt>
            <c:idx val="2"/>
            <c:bubble3D val="0"/>
            <c:spPr>
              <a:solidFill>
                <a:srgbClr val="F08A24"/>
              </a:solidFill>
              <a:effectLst/>
            </c:spPr>
          </c:dPt>
          <c:dPt>
            <c:idx val="3"/>
            <c:bubble3D val="0"/>
            <c:spPr>
              <a:solidFill>
                <a:srgbClr val="9DB4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1B1F3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1B1F3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1B1F3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1B1F3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Phí đối tác NH</c:v>
                </c:pt>
                <c:pt idx="1">
                  <c:v>Vận hành</c:v>
                </c:pt>
                <c:pt idx="2">
                  <c:v>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44</c:v>
                </c:pt>
                <c:pt idx="1">
                  <c:v>23</c:v>
                </c:pt>
                <c:pt idx="2">
                  <c:v>19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3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VND</c:v>
                </c:pt>
              </c:strCache>
            </c:strRef>
          </c:tx>
          <c:spPr>
            <a:solidFill>
              <a:srgbClr val="1FA6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A6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B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8A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285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Lợi nhuận sau thuế</c:v>
                  </c:pt>
                  <c:pt idx="1">
                    <c:v>Lợi nhuận gộp</c:v>
                  </c:pt>
                  <c:pt idx="2">
                    <c:v>Tổng chi phí</c:v>
                  </c:pt>
                  <c:pt idx="3">
                    <c:v>Doanh thu thuần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2.89</c:v>
                </c:pt>
                <c:pt idx="1">
                  <c:v>5.17</c:v>
                </c:pt>
                <c:pt idx="2">
                  <c:v>7.28</c:v>
                </c:pt>
                <c:pt idx="3">
                  <c:v>12.45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30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nêu kết luận trước – doanh thu thuần 12,45 tỷ, lợi nhuận sau thuế 2,89 tỷ, đều tăng so với tháng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chỉ số chính. Lưu ý chi phí tăng 12,1% – nhanh hơn doanh thu 10,8% – sẽ nói ở slide chi phí.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Doanh thu thuần theo tháng, đơn vị tỷ VND. Số liệu T01–T04 là số minh họa.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44% x 7,28 tỷ ≈ 3,20 tỷ VND. Đây là đòn bẩy lớn nhất để cải thiện biên lợi nhuận.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2,89 / 12,45 = 23,2%. Đơn vị tỷ VND.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Hành động 1 tác động trực tiếp vào khoản chi 44%. Hành động 2 dùng file Excel VLOOKUP đã làm.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lại thông điệp và mở phần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8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Tháng 5/2024: doanh thu thuần đạt 12,45 tỷ VND, lợi nhuận sau thuế 2,89 tỷ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2"/>
                </a:solidFill>
              </a:rPr>
              <a:t>PayKX · Báo cáo lỗ lãi tháng 05/2024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Lợi nhuận sau thuế tăng 31,2% so với tháng 4, đạt 2,89 tỷ VND</a:t>
            </a:r>
            <a:endParaRPr lang="en-US" sz="3600" dirty="0"/>
          </a:p>
        </p:txBody>
      </p:sp>
      <p:sp>
        <p:nvSpPr>
          <p:cNvPr id="3" name="Card Doanh thu thuần"/>
          <p:cNvSpPr/>
          <p:nvPr/>
        </p:nvSpPr>
        <p:spPr>
          <a:xfrm>
            <a:off x="603504" y="1920240"/>
            <a:ext cx="2606040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12,45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3063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Doanh thu thuần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4526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▲ 10,8%</a:t>
            </a:r>
            <a:endParaRPr lang="en-US" sz="3000" dirty="0"/>
          </a:p>
        </p:txBody>
      </p:sp>
      <p:sp>
        <p:nvSpPr>
          <p:cNvPr id="7" name="Card Tổng chi phí"/>
          <p:cNvSpPr/>
          <p:nvPr/>
        </p:nvSpPr>
        <p:spPr>
          <a:xfrm>
            <a:off x="3392424" y="1920240"/>
            <a:ext cx="2606040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3864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7,28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83864" y="3063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Tổng chi phí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4526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▲ 12,1%</a:t>
            </a:r>
            <a:endParaRPr lang="en-US" sz="3000" dirty="0"/>
          </a:p>
        </p:txBody>
      </p:sp>
      <p:sp>
        <p:nvSpPr>
          <p:cNvPr id="11" name="Card Lợi nhuận gộp"/>
          <p:cNvSpPr/>
          <p:nvPr/>
        </p:nvSpPr>
        <p:spPr>
          <a:xfrm>
            <a:off x="6181344" y="1920240"/>
            <a:ext cx="2606040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2784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5,17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3063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Lợi nhuận gộp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4526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▲ 27,4%</a:t>
            </a:r>
            <a:endParaRPr lang="en-US" sz="3000" dirty="0"/>
          </a:p>
        </p:txBody>
      </p:sp>
      <p:sp>
        <p:nvSpPr>
          <p:cNvPr id="15" name="Card Lợi nhuận sau thuế"/>
          <p:cNvSpPr/>
          <p:nvPr/>
        </p:nvSpPr>
        <p:spPr>
          <a:xfrm>
            <a:off x="8970264" y="1920240"/>
            <a:ext cx="2606040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704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2,89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061704" y="3063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Lợi nhuận sau thuế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4526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▲ 31,2%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760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Đơn vị: tỷ VND · so với tháng 4/2024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Doanh thu tăng liên tục 5 tháng, đạt đỉnh 12,45 tỷ VND ở tháng 5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737360"/>
          <a:ext cx="11064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Phí đối tác ngân hàng chiếm 44% – khoản chi lớn nhất trong cơ cấu chi phí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73736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phí đối tác"/>
          <p:cNvSpPr/>
          <p:nvPr/>
        </p:nvSpPr>
        <p:spPr>
          <a:xfrm>
            <a:off x="8138160" y="2194560"/>
            <a:ext cx="3520440" cy="365760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23774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44%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35661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≈ 3,20 tỷ VND phí trả đối tác NH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Mỗi 100 đồng doanh thu giữ lại 23 đồng lợi nhuận sau thuế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73736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biên lợi nhuận"/>
          <p:cNvSpPr/>
          <p:nvPr/>
        </p:nvSpPr>
        <p:spPr>
          <a:xfrm>
            <a:off x="8503920" y="2194560"/>
            <a:ext cx="3154680" cy="365760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95360" y="2377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23,2%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35661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biên lợi nhuận sau thuế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Ba hành động giúp giữ đà tăng trưởng và giảm áp lực chi phí</a:t>
            </a:r>
            <a:endParaRPr lang="en-US" sz="3600" dirty="0"/>
          </a:p>
        </p:txBody>
      </p:sp>
      <p:sp>
        <p:nvSpPr>
          <p:cNvPr id="3" name="Số 1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9202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Đàm phán lại phí với đối tác ngân hàng</a:t>
            </a:r>
            <a:endParaRPr lang="en-US" sz="3200" dirty="0"/>
          </a:p>
        </p:txBody>
      </p:sp>
      <p:sp>
        <p:nvSpPr>
          <p:cNvPr id="6" name="Số 2"/>
          <p:cNvSpPr/>
          <p:nvPr/>
        </p:nvSpPr>
        <p:spPr>
          <a:xfrm>
            <a:off x="731520" y="33832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3832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Tự động hóa đối soát phí bằng bảng tổng hợp</a:t>
            </a:r>
            <a:endParaRPr lang="en-US" sz="3200" dirty="0"/>
          </a:p>
        </p:txBody>
      </p:sp>
      <p:sp>
        <p:nvSpPr>
          <p:cNvPr id="9" name="Số 3"/>
          <p:cNvSpPr/>
          <p:nvPr/>
        </p:nvSpPr>
        <p:spPr>
          <a:xfrm>
            <a:off x="731520" y="48463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846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484632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Phân bổ marketing theo hiệu quả từng kênh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Tăng trưởng doanh thu mạnh – Tối ưu chi phí – Lợi nhuận bứt phá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KX">
  <a:themeElements>
    <a:clrScheme name="PayKX">
      <a:dk1>
        <a:srgbClr val="1B1F3B"/>
      </a:dk1>
      <a:lt1>
        <a:srgbClr val="FFFFFF"/>
      </a:lt1>
      <a:dk2>
        <a:srgbClr val="12285F"/>
      </a:dk2>
      <a:lt2>
        <a:srgbClr val="EEF3FB"/>
      </a:lt2>
      <a:accent1>
        <a:srgbClr val="1F5BD8"/>
      </a:accent1>
      <a:accent2>
        <a:srgbClr val="1FA67A"/>
      </a:accent2>
      <a:accent3>
        <a:srgbClr val="F08A24"/>
      </a:accent3>
      <a:accent4>
        <a:srgbClr val="7A5AF8"/>
      </a:accent4>
      <a:accent5>
        <a:srgbClr val="22B8CF"/>
      </a:accent5>
      <a:accent6>
        <a:srgbClr val="E5484D"/>
      </a:accent6>
      <a:hlink>
        <a:srgbClr val="1F5BD8"/>
      </a:hlink>
      <a:folHlink>
        <a:srgbClr val="7A5AF8"/>
      </a:folHlink>
    </a:clrScheme>
    <a:fontScheme name="PayK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PayKX – Báo cáo lỗ lãi tháng 05/2024</dc:title>
  <dc:subject>PptxGenJS Presentation</dc:subject>
  <dc:creator>PptxGenJS</dc:creator>
  <cp:lastModifiedBy>PptxGenJS</cp:lastModifiedBy>
  <cp:revision>1</cp:revision>
  <dcterms:created xsi:type="dcterms:W3CDTF">2026-10-26T10:16:51Z</dcterms:created>
  <dcterms:modified xsi:type="dcterms:W3CDTF">2026-10-26T10:16:51Z</dcterms:modified>
</cp:coreProperties>
</file>